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Arial"/>
              </a:defRPr>
            </a:pPr>
            <a:r>
              <a:t>VigilOps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7BFF"/>
                </a:solidFill>
                <a:latin typeface="Arial"/>
              </a:defRPr>
            </a:pPr>
            <a:r>
              <a:t>AI 驱动的智能运维监控平台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  <a:latin typeface="Arial"/>
              </a:defRPr>
            </a:pPr>
            <a:r>
              <a:t>开源获客 · AI 赋能 · 托管服务变现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2194560" cy="109728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BFF"/>
                </a:solidFill>
                <a:latin typeface="Arial"/>
              </a:defRPr>
            </a:pPr>
            <a:r>
              <a:t>24+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Arial"/>
              </a:defRPr>
            </a:pPr>
            <a:r>
              <a:t>功能模块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114800"/>
            <a:ext cx="2194560" cy="109728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4160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BFF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709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Arial"/>
              </a:defRPr>
            </a:pPr>
            <a:r>
              <a:t>前端页面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114800"/>
            <a:ext cx="2194560" cy="109728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160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B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709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Arial"/>
              </a:defRPr>
            </a:pPr>
            <a:r>
              <a:t>AI Runbook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59" y="4114800"/>
            <a:ext cx="2194560" cy="109728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59" y="4160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BFF"/>
                </a:solidFill>
                <a:latin typeface="Arial"/>
              </a:defRPr>
            </a:pPr>
            <a:r>
              <a:t>5 分钟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4709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Arial"/>
              </a:defRPr>
            </a:pPr>
            <a:r>
              <a:t>部署时间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Arial"/>
              </a:defRPr>
            </a:pPr>
            <a:r>
              <a:t>LChuangNet · 商业计划书 · 2026 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Arial"/>
              </a:defRPr>
            </a:pPr>
            <a:r>
              <a:t>Confidential · For Internal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Arial"/>
              </a:defRPr>
            </a:pPr>
            <a: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📋 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20116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005840"/>
            <a:ext cx="5230368" cy="201168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09728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Arial"/>
              </a:defRPr>
            </a:pPr>
            <a:r>
              <a:t>我们是谁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493775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VigilOps 是一个 AI 驱动的开源运维监控平台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集「监控 + 日志 + 告警 + AI 分析 + 自动修复」于一体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替代 Prometheus+Grafana+PagerDuty 的碎片化方案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面向中国 10-100 人 AI/互联网团队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54864" cy="20116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73952" y="1005840"/>
            <a:ext cx="4956048" cy="201168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0972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Arial"/>
              </a:defRPr>
            </a:pPr>
            <a:r>
              <a:t>商业模式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417320"/>
            <a:ext cx="4663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开源免费 → 建立信任 + 社区获客（CAC ≈ ¥0）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AI 运维托管服务 → 月费 ¥699-1,599（毛利 70%+）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公司宪法: 卖服务不卖产品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目标: 12 个月 50 客户, ARR ¥600K-840K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54864" cy="2926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" y="3291840"/>
            <a:ext cx="5230368" cy="292608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8328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Arial"/>
              </a:defRPr>
            </a:pPr>
            <a:r>
              <a:t>为什么是现在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03320"/>
            <a:ext cx="493775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🔥 AI 团队爆发: 中国 AI 创业公司 10,000+ (2026)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🔥 运维人才稀缺: 中小团队请不起/找不到运维工程师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🔥 Datadog 太贵: $15-23/host/月, 50 台服务器 = $1,000/月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🔥 开源方案太碎: Prometheus+Grafana+ELK+AlertManager, 拼装成本高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🔥 AI 能力缺位: 传统监控只告警不分析, 不修复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窗口期: AI 运维赛道刚起步, 国内几乎没有竞品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91840"/>
            <a:ext cx="54864" cy="2926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2" y="3291840"/>
            <a:ext cx="4956048" cy="292608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3832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Arial"/>
              </a:defRPr>
            </a:pPr>
            <a:r>
              <a:t>核心指标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703320"/>
            <a:ext cx="4663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📊 产品完成度: 24 API + 22 页面 (MVP+)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📊 GitHub: 1 star (刚起步, 2026-02-18 创建)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📊 付费客户: 0 (pre-revenue)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📊 月成本: ¥388 (1 台 ECS)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📊 开发效率: 10 天从零到全功能 MVP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📊 团队: 1 人 + AI 辅助开发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⚡ 本轮目标: 验证 PMF, 获取首批 10 个付费客户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Arial"/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🔥 市场痛点 — 真实场景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2743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00584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097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Arial"/>
              </a:defRPr>
            </a:pPr>
            <a:r>
              <a:t>😱 场景一: 凌晨 3 点告警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某 AI 团队 CTO 凌晨收到短信: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「GPU 服务器磁盘满了」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他爬起来 SSH 登录, 手动清日志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花了 40 分钟, 第二天精神不振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如果有 VigilOps: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→ 自动清理 + 飞书通知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→ CTO 睡到天亮 ✅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05840"/>
            <a:ext cx="54864" cy="2743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62272" y="100584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097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Arial"/>
              </a:defRPr>
            </a:pPr>
            <a:r>
              <a:t>😤 场景二: 拼装地狱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41732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某创业公司用 3 个月搭监控: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Prometheus + Grafana + ELK + PagerDuty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4 套系统, 4 套配置, 4 个 Dashboard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新人入职需要 2 周学习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每月维护成本 20+ 人时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如果有 VigilOps: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→ docker compose up -d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→ 5 分钟全搞定 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005840"/>
            <a:ext cx="54864" cy="2743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9872" y="100584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097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Arial"/>
              </a:defRPr>
            </a:pPr>
            <a:r>
              <a:t>💸 场景三: 账单震惊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41732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某公司用 Datadog 监控 80 台服务器: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Infrastructure: $23/host × 80 = $1,840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APM: $40/host × 20 = $800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Logs: $0.10/GB × 500GB = $50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→ 月账单 $2,690 (¥19,000+)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如果用 VigilOps 托管服务: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→ ¥1,599/月 (省 90%) 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10698480" cy="256032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Arial"/>
              </a:defRPr>
            </a:pPr>
            <a:r>
              <a:t>📊 市场数据（真实来源）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• 全球 IT 运维管理市场: $420 亿 (2025, Gartner)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• 中国 IT 运维市场: ¥200 亿+ (2025, IDC)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• AIOps 市场 CAGR: 32.5% (2023-2028)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• 中国 AI 创业公司: 10,000+ (2026 估计)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• 中小企业运维外包需求增长: 45% YoY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• TAM (总可触达市场): ¥200 亿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• SAM (可服务市场): ¥5-10 亿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  — 中国 AI/互联网中小团队的运维监控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• SOM (可获得市场): ¥500-1,000 万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  — 首年目标: 100 个付费客户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Arial"/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🛡️ 产品功能 — 六大核心模块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54864" cy="2743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91440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005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Arial"/>
              </a:defRPr>
            </a:pPr>
            <a:r>
              <a:t>🖥️ 基础设施监控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32588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CPU / 内存 / 磁盘 / 网络实时指标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Docker 容器自动发现 + 监控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主机服务发现 (ss -tlnp)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WebSocket 实时推送 Dashboard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健康评分 0-100 (加权算法)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24h 趋势图 + 多服务器对比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914400"/>
            <a:ext cx="54864" cy="27432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62272" y="91440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005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Arial"/>
              </a:defRPr>
            </a:pPr>
            <a:r>
              <a:t>🔗 服务拓扑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32588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力导向 / 分层双布局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拖拽保存自定义位置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AI 建议服务依赖关系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邻接高亮 + 按服务器分组折叠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8 类服务分类 (middleware/business/infra)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Nginx upstream 负载均衡识别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914400"/>
            <a:ext cx="54864" cy="2743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9872" y="91440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005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Arial"/>
              </a:defRPr>
            </a:pPr>
            <a:r>
              <a:t>📝 日志管理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32588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Docker 日志自动采集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全文搜索 (PostgreSQL tsvector)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WebSocket 实时日志流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关键字告警规则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按容器/级别筛选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日志量统计饼图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54864" cy="2743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" y="384048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31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Arial"/>
              </a:defRPr>
            </a:pPr>
            <a:r>
              <a:t>🗄️ 数据库监控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PostgreSQL / MySQL / Oracle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连接数 / QPS / 缓存命中率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慢查询 Top 10 分析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数据库容量趋势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Oracle: 容器内 sqlplus 执行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自动告警: 连接池耗尽等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840480"/>
            <a:ext cx="54864" cy="2743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62272" y="384048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931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Arial"/>
              </a:defRPr>
            </a:pPr>
            <a:r>
              <a:t>🤖 AI 智能分析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25196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DeepSeek 集成 (成本 ¥0.01/次)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日志异常自动扫描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告警根因分析 (一键按钮)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AI 运维对话助手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拓扑依赖智能建议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洞察列表 + 趋势识别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3840480"/>
            <a:ext cx="54864" cy="27432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19872" y="384048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931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Arial"/>
              </a:defRPr>
            </a:pPr>
            <a:r>
              <a:t>🔧 自动修复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25196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6 个内置 Runbook: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磁盘清理 / 内存释放 / 服务重启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日志轮转 / 僵尸进程 / 连接重置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AI 诊断 → 方案推荐 → 自动执行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安全审批流 + dry-run 模式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修复日志全程记录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Arial"/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🛡️ 产品功能 — 管理与运营模块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54864" cy="2743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91440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005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Arial"/>
              </a:defRPr>
            </a:pPr>
            <a:r>
              <a:t>🚨 告警中心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32588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指标/日志关键字/数据库 三种规则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5 渠道通知: 钉钉/飞书/企微/邮件/Webhook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降噪: 冷却期+静默期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通知模板自定义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AI 根因分析一键触发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914400"/>
            <a:ext cx="54864" cy="2743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62272" y="91440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005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Arial"/>
              </a:defRPr>
            </a:pPr>
            <a:r>
              <a:t>📊 SLA 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32588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可用性目标设定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错误预算计算+消耗追踪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SLA 违规自动检测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可用性报告生成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月度/季度 SLA 统计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914400"/>
            <a:ext cx="54864" cy="27432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9872" y="91440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005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Arial"/>
              </a:defRPr>
            </a:pPr>
            <a:r>
              <a:t>📝 运维报告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32588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AI 自动生成日报/周报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定时任务(每天2:00/周一3:00)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报告列表+详情查看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Dashboard CSV 数据导出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DeepSeek 分析+建议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54864" cy="2743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" y="384048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31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Arial"/>
              </a:defRPr>
            </a:pPr>
            <a:r>
              <a:t>👥 团队管理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用户 CRUD + 角色分配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RBAC 三级: admin/operator/viewer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审计日志全程记录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Demo 账号权限隔离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操作追溯+合规支持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840480"/>
            <a:ext cx="54864" cy="2743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62272" y="384048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931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Arial"/>
              </a:defRPr>
            </a:pPr>
            <a:r>
              <a:t>⚙️ 部署运维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25196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Docker Compose 一键部署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install.sh 自动化脚本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环境变量完全可配置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Agent systemd 管理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健康检查+自动重启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3840480"/>
            <a:ext cx="54864" cy="2743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19872" y="384048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931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Arial"/>
              </a:defRPr>
            </a:pPr>
            <a:r>
              <a:t>🔐 安全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25196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JWT 认证 + 刷新令牌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RBAC 权限控制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SQL 注入防护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登录速率限制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Agent Token 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Arial"/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🏗️ 技术架构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005840"/>
            <a:ext cx="5760720" cy="64008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0515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👤 用户层: React + TypeScript + Ant Design + ECharts (22 页面)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Arial"/>
              </a:defRPr>
            </a:pPr>
            <a:r>
              <a:t>⬇️ ⬆️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011680"/>
            <a:ext cx="8503920" cy="64008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0574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🔌 API 层: FastAPI (24 路由) + WebSocket + JWT Auth + RBAC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Arial"/>
              </a:defRPr>
            </a:pPr>
            <a:r>
              <a:t>⬇️ ⬆️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10332720" cy="10972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Arial"/>
              </a:defRPr>
            </a:pPr>
            <a:r>
              <a:t>⚙️ 服务层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832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AI Engine (DeepSeek)  |  Anomaly Scanner  |  Notifier (5渠道+降噪)  |  Report Generator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Remediation Agent (6 Runbook)  |  Memory Client (xiaoqiang-memory)  |  Audit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Arial"/>
              </a:defRPr>
            </a:pPr>
            <a:r>
              <a:t>⬇️ ⬆️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480560"/>
            <a:ext cx="3200400" cy="7315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4526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🗃️ PostgreSQL</a:t>
            </a:r>
            <a:br/>
            <a:r>
              <a:t>20+ 数据模型 + tsvector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4480560"/>
            <a:ext cx="2286000" cy="73152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526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⚡ Redis</a:t>
            </a:r>
            <a:br/>
            <a:r>
              <a:t>缓存 + 会话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480560"/>
            <a:ext cx="2286000" cy="73152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526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🧠 DeepSeek API</a:t>
            </a:r>
            <a:br/>
            <a:r>
              <a:t>AI 分析引擎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5257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Arial"/>
              </a:defRPr>
            </a:pPr>
            <a:r>
              <a:t>⬇️ ⬆️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Arial"/>
              </a:defRPr>
            </a:pPr>
            <a:r>
              <a:t>📡 Agent 层 (各目标服务器)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Python Agent (systemd) → 采集 CPU/Mem/Disk/Net/Docker/Host Services/DB → HTTP 上报 → 支持多服务器多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Arial"/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⚔️ 竞品深度对比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1783080" cy="5486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2606039" y="914400"/>
            <a:ext cx="1783080" cy="54864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39" y="93268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VigilOps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914400"/>
            <a:ext cx="1783080" cy="5486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93268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Datadog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914400"/>
            <a:ext cx="1783080" cy="5486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93268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Prometheus</a:t>
            </a:r>
            <a:br/>
            <a:r>
              <a:t>+Grafana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914400"/>
            <a:ext cx="1783080" cy="5486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93268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Zabbix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914400"/>
            <a:ext cx="1783080" cy="5486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04120" y="93268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SigNoz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508760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5544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Arial"/>
              </a:defRPr>
            </a:pPr>
            <a:r>
              <a:t>定价/月(50台)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40" y="1508760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4328" y="1554480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免费/¥1,599托管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1508760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1554480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$1,150-2,700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1508760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1554480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免费(自运维)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508760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1554480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免费(自运维)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19" y="1508760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22408" y="1554480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免费/$199云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984248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029967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Arial"/>
              </a:defRPr>
            </a:pPr>
            <a:r>
              <a:t>部署方式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06040" y="1984248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24328" y="2029967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Docker 5分钟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1984248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2029967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SaaS 注册即用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79" y="1984248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2029967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手动拼装4+组件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1984248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7888" y="2029967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手动安装配置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04119" y="1984248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22408" y="2029967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Docker/K8s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2459736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250545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Arial"/>
              </a:defRPr>
            </a:pPr>
            <a:r>
              <a:t>一体化程度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06040" y="2459736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24328" y="2505456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全集成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60" y="2459736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98848" y="2505456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全集成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79" y="2459736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73368" y="2505456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545"/>
                </a:solidFill>
                <a:latin typeface="Arial"/>
              </a:defRPr>
            </a:pPr>
            <a:r>
              <a:t>❌ 需拼装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0" y="2459736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47888" y="2505456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⚠️ 部分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04119" y="2459736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22408" y="2505456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全集成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935224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298094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Arial"/>
              </a:defRPr>
            </a:pPr>
            <a:r>
              <a:t>AI 分析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06040" y="2935224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24328" y="2980944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DeepSeek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60" y="2935224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98848" y="2980944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⚠️ Watchdog(贵)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55079" y="2935224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73368" y="2980944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545"/>
                </a:solidFill>
                <a:latin typeface="Arial"/>
              </a:defRPr>
            </a:pPr>
            <a:r>
              <a:t>❌ 无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9600" y="2935224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47888" y="2980944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545"/>
                </a:solidFill>
                <a:latin typeface="Arial"/>
              </a:defRPr>
            </a:pPr>
            <a:r>
              <a:t>❌ 无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104119" y="2935224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22408" y="2980944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545"/>
                </a:solidFill>
                <a:latin typeface="Arial"/>
              </a:defRPr>
            </a:pPr>
            <a:r>
              <a:t>❌ 无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3410712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7240" y="345643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Arial"/>
              </a:defRPr>
            </a:pPr>
            <a:r>
              <a:t>自动修复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606040" y="3410712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24328" y="3456432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6 Runbook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480560" y="3410712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98848" y="3456432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545"/>
                </a:solidFill>
                <a:latin typeface="Arial"/>
              </a:defRPr>
            </a:pPr>
            <a:r>
              <a:t>❌ 无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55079" y="3410712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73368" y="3456432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545"/>
                </a:solidFill>
                <a:latin typeface="Arial"/>
              </a:defRPr>
            </a:pPr>
            <a:r>
              <a:t>❌ 无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29600" y="3410712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47888" y="3456432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⚠️ 有限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104119" y="3410712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122408" y="3456432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545"/>
                </a:solidFill>
                <a:latin typeface="Arial"/>
              </a:defRPr>
            </a:pPr>
            <a:r>
              <a:t>❌ 无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" y="3886200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724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Arial"/>
              </a:defRPr>
            </a:pPr>
            <a:r>
              <a:t>日志管理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606040" y="3886200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24328" y="3931920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内置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480560" y="3886200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98848" y="3931920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$0.10/GB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55079" y="3886200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73368" y="3931920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545"/>
                </a:solidFill>
                <a:latin typeface="Arial"/>
              </a:defRPr>
            </a:pPr>
            <a:r>
              <a:t>❌ 需 ELK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229600" y="3886200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47888" y="3931920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⚠️ 基础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104119" y="3886200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122408" y="3931920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内置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31520" y="4361688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77240" y="4407407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Arial"/>
              </a:defRPr>
            </a:pPr>
            <a:r>
              <a:t>数据库监控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606040" y="4361688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624328" y="4407407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3 种 DB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480560" y="4361688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498848" y="4407407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付费插件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355079" y="4361688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73368" y="4407407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545"/>
                </a:solidFill>
                <a:latin typeface="Arial"/>
              </a:defRPr>
            </a:pPr>
            <a:r>
              <a:t>❌ 需 exporter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229600" y="4361688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47888" y="4407407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内置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104119" y="4361688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122408" y="4407407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⚠️ 有限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31520" y="4837176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77240" y="488289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Arial"/>
              </a:defRPr>
            </a:pPr>
            <a:r>
              <a:t>中文支持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606040" y="4837176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624328" y="4882896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原生中文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480560" y="4837176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498848" y="4882896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⚠️ 英文为主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355079" y="4837176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373368" y="4882896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⚠️ 社区汉化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229600" y="4837176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247888" y="4882896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中文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0104119" y="4837176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122408" y="4882896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⚠️ 英文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31520" y="5312664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77240" y="535838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Arial"/>
              </a:defRPr>
            </a:pPr>
            <a:r>
              <a:t>数据主权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606040" y="5312664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624328" y="5358384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自部署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480560" y="5312664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498848" y="5358384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545"/>
                </a:solidFill>
                <a:latin typeface="Arial"/>
              </a:defRPr>
            </a:pPr>
            <a:r>
              <a:t>❌ 数据出境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355079" y="5312664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373368" y="5358384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自部署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229600" y="5312664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247888" y="5358384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自部署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104119" y="5312664"/>
            <a:ext cx="1783080" cy="457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122408" y="5358384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Arial"/>
              </a:defRPr>
            </a:pPr>
            <a:r>
              <a:t>✅ 可自部署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31520" y="5788152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77240" y="583387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Arial"/>
              </a:defRPr>
            </a:pPr>
            <a:r>
              <a:t>学习成本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606040" y="5788152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624328" y="5833872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⭐ 低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480560" y="5788152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498848" y="5833872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⭐⭐ 中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355079" y="5788152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73368" y="5833872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⭐⭐⭐ 高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229600" y="5788152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247888" y="5833872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⭐⭐⭐ 高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0104119" y="5788152"/>
            <a:ext cx="1783080" cy="457200"/>
          </a:xfrm>
          <a:prstGeom prst="round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122408" y="5833872"/>
            <a:ext cx="1746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⭐⭐ 中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731520" y="6309360"/>
            <a:ext cx="10698480" cy="36576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C97B"/>
                </a:solidFill>
                <a:latin typeface="Arial"/>
              </a:defRPr>
            </a:pPr>
            <a:r>
              <a:t>💡 VigilOps = Datadog 的功能 + 开源的价格 + AI 的智能 + 中国的本地化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Arial"/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💰 商业模式 — 开源漏斗 + 服务变现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09647" y="2286000"/>
            <a:ext cx="7772400" cy="50292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92527" y="2313432"/>
            <a:ext cx="7406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GitHub/文章/社区 → 免费下载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2527" y="2542032"/>
            <a:ext cx="7406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10,000+ 曝光/月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9727" y="2926080"/>
            <a:ext cx="6492240" cy="50292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2607" y="2953512"/>
            <a:ext cx="6126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安装使用 → 体验价值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2607" y="3182112"/>
            <a:ext cx="6126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500+ 安装/月 (5% 转化)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9807" y="3566160"/>
            <a:ext cx="521208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2687" y="3593591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需要托管 → 联系我们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2687" y="3822191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50 线索/月 (10% 转化)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9887" y="4206240"/>
            <a:ext cx="3931920" cy="50292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2767" y="423367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签约付费 → 长期客户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2767" y="446227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10 客户/月 (20% 转化)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29200"/>
            <a:ext cx="54864" cy="1463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" y="5029200"/>
            <a:ext cx="3310128" cy="146304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20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Arial"/>
              </a:defRPr>
            </a:pPr>
            <a:r>
              <a:t>🆓 开源版 (免费)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40680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全功能 · 社区支持 · 自行部署运维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目的: 获客漏斗入口, 建立品牌信任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成本: ¥0 (用户自行承担服务器)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5029200"/>
            <a:ext cx="54864" cy="14630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62272" y="5029200"/>
            <a:ext cx="3310128" cy="146304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5120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Arial"/>
              </a:defRPr>
            </a:pPr>
            <a:r>
              <a:t>⭐ 标准托管 ¥699/月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5440680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部署+配置+5×8 监控+月报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适合: 5-20 台服务器, 无专职运维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毛利: ~70% (人力成本 ¥200/客户)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5029200"/>
            <a:ext cx="54864" cy="1463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19872" y="5029200"/>
            <a:ext cx="3310128" cy="146304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5120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Arial"/>
              </a:defRPr>
            </a:pPr>
            <a:r>
              <a:t>🚀 高级托管 ¥1,599/月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5440680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AI 全托管+7×24+15min 响应+季度优化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适合: 20-100 台, 核心业务系统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毛利: ~75% (规模效应, AI 降本)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Arial"/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📊 财务模型 — 单位经济学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2286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005840"/>
            <a:ext cx="5230368" cy="22860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09728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Arial"/>
              </a:defRPr>
            </a:pPr>
            <a:r>
              <a:t>💵 成本结构 (月度)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493775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固定成本: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• ECS 服务器: ¥388/月 (可扩展)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• 域名+CDN: ¥50/月 (待购)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• DeepSeek API: ¥100-500/月 (按用量)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• 小计: ¥538-938/月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变动成本 (每客户):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• 监控运维人力: ~¥200/客户/月 (AI 辅助后)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• 基础设施: ~¥50/客户/月 (Agent 流量等)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54864" cy="22860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73952" y="1005840"/>
            <a:ext cx="4956048" cy="22860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0972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Arial"/>
              </a:defRPr>
            </a:pPr>
            <a:r>
              <a:t>📈 单位经济学 (Unit Economics)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417320"/>
            <a:ext cx="4663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ARPU (平均客单价): ¥1,100/月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(699×60% + 1599×40% 加权)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毛利/客户: ¥850/月 (毛利率 77%)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CAC (获客成本): ≈ ¥500-1,000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(内容营销为主, 几乎零广告投入)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LTV (生命周期价值): ¥850 × 24 月 = ¥20,400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LTV/CAC = 20-40x ✅ (极健康)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698480" cy="292608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📅 收入预测 (保守 / 乐观)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23360"/>
            <a:ext cx="1645920" cy="36576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416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BFF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4023360"/>
            <a:ext cx="1645920" cy="36576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40416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BFF"/>
                </a:solidFill>
                <a:latin typeface="Arial"/>
              </a:defRPr>
            </a:pPr>
            <a:r>
              <a:t>M1-3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023360"/>
            <a:ext cx="1645920" cy="36576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0416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BFF"/>
                </a:solidFill>
                <a:latin typeface="Arial"/>
              </a:defRPr>
            </a:pPr>
            <a:r>
              <a:t>M4-6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4023360"/>
            <a:ext cx="1645920" cy="36576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9" y="40416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BFF"/>
                </a:solidFill>
                <a:latin typeface="Arial"/>
              </a:defRPr>
            </a:pPr>
            <a:r>
              <a:t>M7-9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023360"/>
            <a:ext cx="1645920" cy="36576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0416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BFF"/>
                </a:solidFill>
                <a:latin typeface="Arial"/>
              </a:defRPr>
            </a:pPr>
            <a:r>
              <a:t>M10-12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4023360"/>
            <a:ext cx="1645920" cy="36576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40416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BFF"/>
                </a:solidFill>
                <a:latin typeface="Arial"/>
              </a:defRPr>
            </a:pPr>
            <a:r>
              <a:t>Y2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434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  <a:latin typeface="Arial"/>
              </a:defRPr>
            </a:pPr>
            <a:r>
              <a:t>付费客户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434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3-5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434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10-15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434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25-35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59" y="4434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50-70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4434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100-150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800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  <a:latin typeface="Arial"/>
              </a:defRPr>
            </a:pPr>
            <a:r>
              <a:t>MRR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4800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¥3-5K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800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¥10-16K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4800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¥27-38K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59" y="4800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¥55-77K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4800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¥110-165K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16635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  <a:latin typeface="Arial"/>
              </a:defRPr>
            </a:pPr>
            <a:r>
              <a:t>固定成本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516635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¥1K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516635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¥2K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516635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¥5K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59" y="516635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¥8K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516635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¥15K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5532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  <a:latin typeface="Arial"/>
              </a:defRPr>
            </a:pPr>
            <a:r>
              <a:t>变动成本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97480" y="5532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¥1-1.3K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5532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¥2.5-3.8K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532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¥6.3-8.8K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9559" y="5532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¥12.5-17.5K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5532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¥25-37.5K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589787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  <a:latin typeface="Arial"/>
              </a:defRPr>
            </a:pPr>
            <a:r>
              <a:t>净利润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97480" y="589787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7B"/>
                </a:solidFill>
                <a:latin typeface="Arial"/>
              </a:defRPr>
            </a:pPr>
            <a:r>
              <a:t>¥1-2.7K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34840" y="589787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7B"/>
                </a:solidFill>
                <a:latin typeface="Arial"/>
              </a:defRPr>
            </a:pPr>
            <a:r>
              <a:t>¥5.5-10.2K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589787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7B"/>
                </a:solidFill>
                <a:latin typeface="Arial"/>
              </a:defRPr>
            </a:pPr>
            <a:r>
              <a:t>¥15.7-24.2K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59" y="589787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7B"/>
                </a:solidFill>
                <a:latin typeface="Arial"/>
              </a:defRPr>
            </a:pPr>
            <a:r>
              <a:t>¥34.5-51.5K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6920" y="589787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7B"/>
                </a:solidFill>
                <a:latin typeface="Arial"/>
              </a:defRPr>
            </a:pPr>
            <a:r>
              <a:t>¥70-112.5K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" y="62636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  <a:latin typeface="Arial"/>
              </a:defRPr>
            </a:pPr>
            <a:r>
              <a:t>累计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97480" y="62636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7B"/>
                </a:solidFill>
                <a:latin typeface="Arial"/>
              </a:defRPr>
            </a:pPr>
            <a:r>
              <a:t>¥3-8K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4840" y="62636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7B"/>
                </a:solidFill>
                <a:latin typeface="Arial"/>
              </a:defRPr>
            </a:pPr>
            <a:r>
              <a:t>¥20-39K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2200" y="62636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7B"/>
                </a:solidFill>
                <a:latin typeface="Arial"/>
              </a:defRPr>
            </a:pPr>
            <a:r>
              <a:t>¥67-112K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9559" y="62636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7B"/>
                </a:solidFill>
                <a:latin typeface="Arial"/>
              </a:defRPr>
            </a:pPr>
            <a:r>
              <a:t>¥170-266K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46920" y="62636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7B"/>
                </a:solidFill>
                <a:latin typeface="Arial"/>
              </a:defRPr>
            </a:pPr>
            <a:r>
              <a:t>¥1M-1.6M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Arial"/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👥 目标客户画像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5029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005840"/>
            <a:ext cx="3310128" cy="5029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097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Arial"/>
              </a:defRPr>
            </a:pPr>
            <a:r>
              <a:t>🤖 画像 A: AI 创业团队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30175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公司: 20 人 AI 创业公司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服务器: 15 台 (含 GPU 服务器)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痛点: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• 没有专职运维, CTO 兼任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• GPU 服务器经常 OOM/磁盘满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• 凌晨告警频繁, 严重影响效率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需求: 自动清理+告警降噪+AI分析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预算: ¥1,000-2,000/月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方案: 高级托管 ¥1,599/月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ROI: 每月节省 CTO 20h × ¥300/h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   = ¥6,000/月 → 投入产出比 4:1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05840"/>
            <a:ext cx="54864" cy="5029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62272" y="1005840"/>
            <a:ext cx="3310128" cy="5029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097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Arial"/>
              </a:defRPr>
            </a:pPr>
            <a:r>
              <a:t>🏢 画像 B: 传统企业数字化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417320"/>
            <a:ext cx="30175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公司: 50 人制造业企业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服务器: 8 台 (ERP+OA+官网)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痛点: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• IT 就 1 个人, 还兼网管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• 服务器偶尔宕机, 靠用户投诉发现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• 老板要求「出报告」但没工具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需求: 基础监控+告警+月度报告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预算: ¥500-1,000/月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方案: 标准托管 ¥699/月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ROI: 避免 1 次宕机损失 ¥50,000+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   年费 ¥8,388 → 性价比极高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005840"/>
            <a:ext cx="54864" cy="50292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9872" y="1005840"/>
            <a:ext cx="3310128" cy="5029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097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Arial"/>
              </a:defRPr>
            </a:pPr>
            <a:r>
              <a:t>🚀 画像 C: 快速增长 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417320"/>
            <a:ext cx="30175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公司: 80 人 SaaS 创业公司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服务器: 40 台 (微服务+K8s)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痛点: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• 用 Prometheus+Grafana 但太复杂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• 2 个运维疲于奔命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• 想要 AI 自动修复减少人力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需求: 全栈监控+AI+自动修复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预算: ¥2,000-5,000/月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方案: 高级托管 ¥1,599/月 × 2 实例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ROI: 减少 1 个运维岗位 ¥15,000/月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     年节省 ¥180,000 → 投入产出比 5:1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Arial"/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📢 获客策略 — 零广告预算获客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27432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00584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097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Arial"/>
              </a:defRPr>
            </a:pPr>
            <a:r>
              <a:t>📝 内容营销 (已启动)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✅ 11+ 篇技术文章已撰写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✅ CSDN / 知乎 / 掘金 已发布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📋 待做: 每周 2 篇深度文章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📋 待做: 技术博客 + SEO 优化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策略: 解决方案型内容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「如何用 5 分钟搭建 AI 运维监控」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「告别凌晨 3 点: AI 自动修复实战」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05840"/>
            <a:ext cx="54864" cy="2743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62272" y="100584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097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Arial"/>
              </a:defRPr>
            </a:pPr>
            <a:r>
              <a:t>🌟 开源社区 (重点)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41732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📋 GitHub README 优化 ✅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📋 进入 awesome-devops list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📋 发 Hacker News / Reddit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📋 发 V2EX / SegmentFault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📋 录 Demo 视频 (YouTube/B站)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目标: 3 个月达到 500 star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关键: 每个 star = 一个潜在漏斗入口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005840"/>
            <a:ext cx="54864" cy="2743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9872" y="1005840"/>
            <a:ext cx="3310128" cy="274320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097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Arial"/>
              </a:defRPr>
            </a:pPr>
            <a:r>
              <a:t>🤝 直销 + 口碑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41732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📋 找 5 个 AI 团队免费试用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📋 提供 14 天免费托管体验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📋 案例包装 → 推荐返利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策略: 先服务好 10 个客户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让他们成为你的销售团队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口碑传播 &gt; 广告投放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(目标 NPS &gt; 50)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54864" cy="25603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" y="4023360"/>
            <a:ext cx="10625328" cy="256032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114800"/>
            <a:ext cx="10332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Arial"/>
              </a:defRPr>
            </a:pPr>
            <a:r>
              <a:t>📊 获客漏斗量化预测 (6 个月)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434840"/>
            <a:ext cx="1033271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渠道            曝光     →  访问     →  安装     →  线索     →  付费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技术文章         50,000      5,000       250        25        5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GitHub/社区      30,000      3,000       300        15        3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直销/推荐        —           —           —          20        5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合计             80,000      8,000       550        60        13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Arial"/>
              </a:defRPr>
            </a:pPr>
            <a:r>
              <a:t>6 个月目标: 13 个付费客户, MRR ¥14,300 (ARPU ¥1,100)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Arial"/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🎯 ROI 优先级行动计划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Arial"/>
              </a:defRPr>
            </a:pPr>
            <a:r>
              <a:t>按投资回报率排序 — 每一步都要产出可衡量的结果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457200" cy="45720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155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恢复 Demo 环境 + 确保 24/7 可用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1155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Arial"/>
              </a:defRPr>
            </a:pPr>
            <a:r>
              <a:t>4h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115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Arial"/>
              </a:defRPr>
            </a:pPr>
            <a:r>
              <a:t>ROI 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8988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Arial"/>
              </a:defRPr>
            </a:pPr>
            <a:r>
              <a:t>所有获客链路的终点, 挂了=一切白费。加 uptime 监控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00784"/>
            <a:ext cx="457200" cy="45720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773936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719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推 Docker 镜像到 DockerHub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190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Arial"/>
              </a:defRPr>
            </a:pPr>
            <a:r>
              <a:t>4h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719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Arial"/>
              </a:defRPr>
            </a:pPr>
            <a:r>
              <a:t>ROI 100x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1993391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Arial"/>
              </a:defRPr>
            </a:pPr>
            <a:r>
              <a:t>用户 docker compose up 直接跑, 不用 clone+build。安装转化率提升 10x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304288"/>
            <a:ext cx="4572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377440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3225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录制 2 分钟产品 Demo 视频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225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Arial"/>
              </a:defRPr>
            </a:pPr>
            <a:r>
              <a:t>6h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3225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Arial"/>
              </a:defRPr>
            </a:pPr>
            <a:r>
              <a:t>ROI 50x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259689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Arial"/>
              </a:defRPr>
            </a:pPr>
            <a:r>
              <a:t>放 README+文章+B 站。视频转化率是纯文字的 5-10 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907791"/>
            <a:ext cx="4572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2980944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29260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JWT 密钥随机化 + 数据库每日备份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92607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Arial"/>
              </a:defRPr>
            </a:pPr>
            <a:r>
              <a:t>2h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9260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Arial"/>
              </a:defRPr>
            </a:pPr>
            <a:r>
              <a:t>ROI 安全底线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200399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Arial"/>
              </a:defRPr>
            </a:pPr>
            <a:r>
              <a:t>出安全事故=品牌归零。cron + pg_dump 即可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511296"/>
            <a:ext cx="4572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584448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5295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域名 vigilops.cn + Let's Encrypt HTTPS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5295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Arial"/>
              </a:defRPr>
            </a:pPr>
            <a:r>
              <a:t>4h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5295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Arial"/>
              </a:defRPr>
            </a:pPr>
            <a:r>
              <a:t>ROI 10x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380390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Arial"/>
              </a:defRPr>
            </a:pPr>
            <a:r>
              <a:t>专业感+SEO+安全。没有 HTTPS 的 SaaS 2026 年不可接受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114800"/>
            <a:ext cx="457200" cy="4572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187952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413308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GitHub 冷启动到 50 star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133087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Arial"/>
              </a:defRPr>
            </a:pPr>
            <a:r>
              <a:t>2 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1330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Arial"/>
              </a:defRPr>
            </a:pPr>
            <a:r>
              <a:t>ROI 20x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440740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Arial"/>
              </a:defRPr>
            </a:pPr>
            <a:r>
              <a:t>HN/Reddit/V2EX 发帖 + 朋友圈 + awesome-list PR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718304"/>
            <a:ext cx="457200" cy="4572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4791456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47365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找 3 个 AI 团队免费试用 14 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7365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Arial"/>
              </a:defRPr>
            </a:pPr>
            <a:r>
              <a:t>2 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4736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Arial"/>
              </a:defRPr>
            </a:pPr>
            <a:r>
              <a:t>ROI 关键验证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" y="50109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Arial"/>
              </a:defRPr>
            </a:pPr>
            <a:r>
              <a:t>验证 PMF: 他们愿不愿意续费? 哪些功能最有价值?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321808"/>
            <a:ext cx="457200" cy="45720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808" y="5394960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5880" y="53400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GitHub Actions CI/CD 流水线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53400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Arial"/>
              </a:defRPr>
            </a:pPr>
            <a:r>
              <a:t>1 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53400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Arial"/>
              </a:defRPr>
            </a:pPr>
            <a:r>
              <a:t>ROI 5x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25880" y="561441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Arial"/>
              </a:defRPr>
            </a:pPr>
            <a:r>
              <a:t>自动测试+构建+推镜像, 迭代速度 2x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5925312"/>
            <a:ext cx="457200" cy="45720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808" y="5998464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25880" y="5943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首个付费客户签约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5943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Arial"/>
              </a:defRPr>
            </a:pPr>
            <a:r>
              <a:t>1 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5943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Arial"/>
              </a:defRPr>
            </a:pPr>
            <a:r>
              <a:t>ROI 里程碑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25880" y="62179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Arial"/>
              </a:defRPr>
            </a:pPr>
            <a:r>
              <a:t>从 ¥0 到 ¥1 的跨越, 证明商业模式可行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Arial"/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📅 里程碑路线图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2651760" cy="64008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2026 Q1</a:t>
            </a:r>
            <a:br/>
            <a:r>
              <a:t>(现在)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🔥 生存期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✅ MVP 完成 (24 API + 22 页面)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✅ 一键部署脚本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✅ 11+ 获客文章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恢复 Demo + DockerHub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安全加固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Demo 视频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GitHub 50 star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首个免费试用客户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005840"/>
            <a:ext cx="265176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0241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2026 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🌱 验证期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10 个付费客户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MRR ¥10,000+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域名 + HTTPS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CI/CD 流水线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GitHub 200 star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客户案例 3 篇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PMF 验证 (续费率 &gt; 80%)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005840"/>
            <a:ext cx="2651760" cy="64008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0241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2026 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📈 增长期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30-50 个付费客户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MRR ¥40,000+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GitHub 500 star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招聘运维工程师 1 名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产品: K8s 支持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合作伙伴渠道建立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005840"/>
            <a:ext cx="2651760" cy="64008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0241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2026 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🚀 规模期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8288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100+ 客户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ARR ¥1M+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团队 5-8 人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产品: 移动端/国际化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考虑种子轮融资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Arial"/>
              </a:defRPr>
            </a:pPr>
            <a:r>
              <a:t>🔲 GitHub 1000 star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698480" cy="82296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806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Arial"/>
              </a:defRPr>
            </a:pPr>
            <a:r>
              <a:t>GitHub Star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035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FF"/>
                </a:solidFill>
                <a:latin typeface="Arial"/>
              </a:defRPr>
            </a:pPr>
            <a:r>
              <a:t>1→50→500→1K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5806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Arial"/>
              </a:defRPr>
            </a:pPr>
            <a:r>
              <a:t>付费客户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6035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FF"/>
                </a:solidFill>
                <a:latin typeface="Arial"/>
              </a:defRPr>
            </a:pPr>
            <a:r>
              <a:t>0→10→50→100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806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Arial"/>
              </a:defRPr>
            </a:pPr>
            <a:r>
              <a:t>MRR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035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FF"/>
                </a:solidFill>
                <a:latin typeface="Arial"/>
              </a:defRPr>
            </a:pPr>
            <a:r>
              <a:t>¥0→10K→40K→80K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59" y="5806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Arial"/>
              </a:defRPr>
            </a:pPr>
            <a:r>
              <a:t>团队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6035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FF"/>
                </a:solidFill>
                <a:latin typeface="Arial"/>
              </a:defRPr>
            </a:pPr>
            <a:r>
              <a:t>1人→2人→5人→8人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Arial"/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⚠️ 风险分析与对策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502920" cy="86868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466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风险: 获客困难 — 开源项目海量，难以脱颖而出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Arial"/>
              </a:defRPr>
            </a:pPr>
            <a:r>
              <a:t>✅ 对策: 聚焦「中国 AI 团队」垂直场景，不做泛运维。内容营销+社区深耕，不投广告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Arial"/>
              </a:defRPr>
            </a:pPr>
            <a:r>
              <a:t>📏 指标: 3 个月内 GitHub 50 star, 首个付费客户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02920" cy="86868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31720"/>
            <a:ext cx="466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风险: 一人团队 — 开发/销售/运维全靠创始人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77439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Arial"/>
              </a:defRPr>
            </a:pPr>
            <a:r>
              <a:t>✅ 对策: AI 辅助开发效率 10x (已验证: 10 天完成 MVP)。优先自动化一切。收入到 MRR ¥30K 后招人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517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Arial"/>
              </a:defRPr>
            </a:pPr>
            <a:r>
              <a:t>📏 底线: 如果 6 个月无付费客户, 复盘 pivot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502920" cy="8686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429000"/>
            <a:ext cx="466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00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风险: 代码质量 — AI 生成的代码可能有隐藏 bug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747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Arial"/>
              </a:defRPr>
            </a:pPr>
            <a:r>
              <a:t>✅ 对策: 建立 CI/CD + 自动测试。核心安全模块人工 review。渐进式上线 (dry-run 先行)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49039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Arial"/>
              </a:defRPr>
            </a:pPr>
            <a:r>
              <a:t>📏 指标: 测试覆盖率 &gt; 60%, 无 P0 生产事故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97679"/>
            <a:ext cx="502920" cy="8686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26279"/>
            <a:ext cx="466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风险: 大厂竞争 — 阿里云/腾讯云推出类似产品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71999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Arial"/>
              </a:defRPr>
            </a:pPr>
            <a:r>
              <a:t>✅ 对策: 大厂不会做 ¥699/月的服务，我们深耕中小客户。开源+社区建立护城河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46319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Arial"/>
              </a:defRPr>
            </a:pPr>
            <a:r>
              <a:t>📏 策略: 比大厂更快响应, 比开源更省心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94960"/>
            <a:ext cx="502920" cy="86868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623560"/>
            <a:ext cx="466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394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风险: 供应商风险 — DeepSeek API 不可用或涨价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6692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Arial"/>
              </a:defRPr>
            </a:pPr>
            <a:r>
              <a:t>✅ 对策: AI 引擎抽象层已支持多 provider。可切换 Qwen/GLM/本地模型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436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Arial"/>
              </a:defRPr>
            </a:pPr>
            <a:r>
              <a:t>📏 预案: 24h 内切换备用 AI provider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Arial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🎯 总结 — 为什么投资 VigilOps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C97B"/>
                </a:solidFill>
                <a:latin typeface="Arial"/>
              </a:defRPr>
            </a:pPr>
            <a:r>
              <a:t>「AI 运维监控的拼多多 — 大厂品质, 亲民价格, AI 赋能」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50292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591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Arial"/>
              </a:defRPr>
            </a:pPr>
            <a:r>
              <a:t>✅ 产品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3591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10 天完成 MVP+ (24 API + 22 页面 + AI + 自修复)，执行力已验证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80360"/>
            <a:ext cx="10332720" cy="50292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535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Arial"/>
              </a:defRPr>
            </a:pPr>
            <a:r>
              <a:t>✅ 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95351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开源获客 (CAC≈0) + 托管服务 (毛利 75%) + LTV/CAC &gt; 20x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74720"/>
            <a:ext cx="10332720" cy="50292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5478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Arial"/>
              </a:defRPr>
            </a:pPr>
            <a:r>
              <a:t>✅ 时机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54787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中国 AI 团队爆发 + 运维人才稀缺 + 国内无同类竞品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69080"/>
            <a:ext cx="10332720" cy="50292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422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Arial"/>
              </a:defRPr>
            </a:pPr>
            <a:r>
              <a:t>✅ 壁垒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14223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开源社区 + 运维数据积累 + AI 学习效应 (越用越聪明)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63440"/>
            <a:ext cx="10332720" cy="502920"/>
          </a:xfrm>
          <a:prstGeom prst="round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7365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Arial"/>
              </a:defRPr>
            </a:pPr>
            <a:r>
              <a:t>✅ 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73659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1 人 + AI = 10 人团队的产出，极低 burn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303520"/>
            <a:ext cx="8503920" cy="10972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53949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7B"/>
                </a:solidFill>
                <a:latin typeface="Arial"/>
              </a:defRPr>
            </a:pPr>
            <a:r>
              <a:t>下一步行动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064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本周: 恢复 Demo → 推 DockerHub → 安全加固 → 录 Demo 视频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60807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Arial"/>
              </a:defRPr>
            </a:pPr>
            <a:r>
              <a:t>本月: 50 star + 3 个免费试用 → 首个付费客户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Arial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